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Adediran" userId="87a84d3ab8cfc910" providerId="LiveId" clId="{B347B869-8328-40EA-AE38-E98C7CB6A2ED}"/>
    <pc:docChg chg="undo custSel modSld">
      <pc:chgData name="Michael Adediran" userId="87a84d3ab8cfc910" providerId="LiveId" clId="{B347B869-8328-40EA-AE38-E98C7CB6A2ED}" dt="2026-08-16T20:13:24.149" v="16" actId="1036"/>
      <pc:docMkLst>
        <pc:docMk/>
      </pc:docMkLst>
      <pc:sldChg chg="modSp mod">
        <pc:chgData name="Michael Adediran" userId="87a84d3ab8cfc910" providerId="LiveId" clId="{B347B869-8328-40EA-AE38-E98C7CB6A2ED}" dt="2026-08-16T18:44:47.063" v="7" actId="1076"/>
        <pc:sldMkLst>
          <pc:docMk/>
          <pc:sldMk cId="0" sldId="256"/>
        </pc:sldMkLst>
        <pc:spChg chg="mod">
          <ac:chgData name="Michael Adediran" userId="87a84d3ab8cfc910" providerId="LiveId" clId="{B347B869-8328-40EA-AE38-E98C7CB6A2ED}" dt="2026-08-16T18:44:21.348" v="3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ichael Adediran" userId="87a84d3ab8cfc910" providerId="LiveId" clId="{B347B869-8328-40EA-AE38-E98C7CB6A2ED}" dt="2026-08-16T18:44:34.105" v="5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Michael Adediran" userId="87a84d3ab8cfc910" providerId="LiveId" clId="{B347B869-8328-40EA-AE38-E98C7CB6A2ED}" dt="2026-08-16T18:44:39.918" v="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Michael Adediran" userId="87a84d3ab8cfc910" providerId="LiveId" clId="{B347B869-8328-40EA-AE38-E98C7CB6A2ED}" dt="2026-08-16T18:44:28.537" v="4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Michael Adediran" userId="87a84d3ab8cfc910" providerId="LiveId" clId="{B347B869-8328-40EA-AE38-E98C7CB6A2ED}" dt="2026-08-16T18:44:47.063" v="7" actId="1076"/>
          <ac:spMkLst>
            <pc:docMk/>
            <pc:sldMk cId="0" sldId="256"/>
            <ac:spMk id="30" creationId="{D7979EA5-6066-B112-E77F-9C87DAFFB31B}"/>
          </ac:spMkLst>
        </pc:spChg>
      </pc:sldChg>
      <pc:sldChg chg="delSp mod">
        <pc:chgData name="Michael Adediran" userId="87a84d3ab8cfc910" providerId="LiveId" clId="{B347B869-8328-40EA-AE38-E98C7CB6A2ED}" dt="2026-08-16T18:49:09.365" v="15" actId="478"/>
        <pc:sldMkLst>
          <pc:docMk/>
          <pc:sldMk cId="0" sldId="257"/>
        </pc:sldMkLst>
        <pc:spChg chg="del">
          <ac:chgData name="Michael Adediran" userId="87a84d3ab8cfc910" providerId="LiveId" clId="{B347B869-8328-40EA-AE38-E98C7CB6A2ED}" dt="2026-08-16T18:49:09.365" v="15" actId="478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ichael Adediran" userId="87a84d3ab8cfc910" providerId="LiveId" clId="{B347B869-8328-40EA-AE38-E98C7CB6A2ED}" dt="2026-08-16T20:13:24.149" v="16" actId="1036"/>
        <pc:sldMkLst>
          <pc:docMk/>
          <pc:sldMk cId="0" sldId="258"/>
        </pc:sldMkLst>
        <pc:spChg chg="mod">
          <ac:chgData name="Michael Adediran" userId="87a84d3ab8cfc910" providerId="LiveId" clId="{B347B869-8328-40EA-AE38-E98C7CB6A2ED}" dt="2026-08-16T20:13:24.149" v="16" actId="1036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Michael Adediran" userId="87a84d3ab8cfc910" providerId="LiveId" clId="{B347B869-8328-40EA-AE38-E98C7CB6A2ED}" dt="2026-08-16T18:46:35.420" v="10" actId="14100"/>
        <pc:sldMkLst>
          <pc:docMk/>
          <pc:sldMk cId="0" sldId="261"/>
        </pc:sldMkLst>
        <pc:spChg chg="mod">
          <ac:chgData name="Michael Adediran" userId="87a84d3ab8cfc910" providerId="LiveId" clId="{B347B869-8328-40EA-AE38-E98C7CB6A2ED}" dt="2026-08-16T18:46:35.420" v="10" actId="14100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ichael Adediran" userId="87a84d3ab8cfc910" providerId="LiveId" clId="{B347B869-8328-40EA-AE38-E98C7CB6A2ED}" dt="2026-08-16T18:46:52.439" v="11" actId="14100"/>
        <pc:sldMkLst>
          <pc:docMk/>
          <pc:sldMk cId="0" sldId="263"/>
        </pc:sldMkLst>
        <pc:spChg chg="mod">
          <ac:chgData name="Michael Adediran" userId="87a84d3ab8cfc910" providerId="LiveId" clId="{B347B869-8328-40EA-AE38-E98C7CB6A2ED}" dt="2026-08-16T18:46:52.439" v="11" actId="14100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ichael Adediran" userId="87a84d3ab8cfc910" providerId="LiveId" clId="{B347B869-8328-40EA-AE38-E98C7CB6A2ED}" dt="2026-08-16T18:47:01.557" v="12" actId="14100"/>
        <pc:sldMkLst>
          <pc:docMk/>
          <pc:sldMk cId="0" sldId="264"/>
        </pc:sldMkLst>
        <pc:spChg chg="mod">
          <ac:chgData name="Michael Adediran" userId="87a84d3ab8cfc910" providerId="LiveId" clId="{B347B869-8328-40EA-AE38-E98C7CB6A2ED}" dt="2026-08-16T18:47:01.557" v="12" actId="14100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ichael Adediran" userId="87a84d3ab8cfc910" providerId="LiveId" clId="{B347B869-8328-40EA-AE38-E98C7CB6A2ED}" dt="2026-08-16T18:47:11.235" v="13" actId="14100"/>
        <pc:sldMkLst>
          <pc:docMk/>
          <pc:sldMk cId="0" sldId="265"/>
        </pc:sldMkLst>
        <pc:spChg chg="mod">
          <ac:chgData name="Michael Adediran" userId="87a84d3ab8cfc910" providerId="LiveId" clId="{B347B869-8328-40EA-AE38-E98C7CB6A2ED}" dt="2026-08-16T18:47:11.235" v="13" actId="14100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Michael Adediran" userId="87a84d3ab8cfc910" providerId="LiveId" clId="{B347B869-8328-40EA-AE38-E98C7CB6A2ED}" dt="2026-08-16T18:47:22.163" v="14" actId="14100"/>
        <pc:sldMkLst>
          <pc:docMk/>
          <pc:sldMk cId="0" sldId="266"/>
        </pc:sldMkLst>
        <pc:spChg chg="mod">
          <ac:chgData name="Michael Adediran" userId="87a84d3ab8cfc910" providerId="LiveId" clId="{B347B869-8328-40EA-AE38-E98C7CB6A2ED}" dt="2026-08-16T18:47:22.163" v="14" actId="14100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18" y="811376"/>
            <a:ext cx="62179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dirty="0">
                <a:solidFill>
                  <a:srgbClr val="6FFFE9"/>
                </a:solidFill>
                <a:latin typeface="Montserrat"/>
              </a:rPr>
              <a:t>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8" y="1585338"/>
            <a:ext cx="7498079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 dirty="0">
                <a:solidFill>
                  <a:srgbClr val="FFFFFF"/>
                </a:solidFill>
                <a:latin typeface="Montserrat"/>
              </a:rPr>
              <a:t>PROJECT ROADMAP</a:t>
            </a:r>
            <a:r>
              <a:rPr lang="en-US" sz="6000" b="1" dirty="0">
                <a:solidFill>
                  <a:srgbClr val="FFFFFF"/>
                </a:solidFill>
                <a:latin typeface="Montserrat"/>
              </a:rPr>
              <a:t> </a:t>
            </a:r>
            <a:endParaRPr sz="60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74980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B8C1CC"/>
                </a:solidFill>
                <a:latin typeface="Aptos"/>
              </a:rPr>
              <a:t>A practical step-by-step framework for approaching</a:t>
            </a:r>
            <a:r>
              <a:rPr lang="en-US" sz="1800" b="0" dirty="0">
                <a:solidFill>
                  <a:srgbClr val="B8C1CC"/>
                </a:solidFill>
                <a:latin typeface="Aptos"/>
              </a:rPr>
              <a:t> any project</a:t>
            </a:r>
            <a:br>
              <a:rPr sz="2400" dirty="0"/>
            </a:br>
            <a:r>
              <a:rPr dirty="0" sz="1800">
                <a:solidFill>
                  <a:srgbClr val="B8C1CC"/>
                </a:solidFill>
                <a:latin typeface="Aptos"/>
              </a:rPr>
              <a:t>projects from problem definition to final communication.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828800"/>
            <a:ext cx="1143000" cy="56692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75320" y="3246120"/>
            <a:ext cx="1143000" cy="56692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844184"/>
            <a:ext cx="6766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Aptos"/>
              </a:rPr>
              <a:t>From a </a:t>
            </a:r>
            <a:r>
              <a:rPr lang="en-US" b="1" dirty="0">
                <a:solidFill>
                  <a:srgbClr val="FFFFFF"/>
                </a:solidFill>
                <a:latin typeface="Aptos"/>
              </a:rPr>
              <a:t>Q</a:t>
            </a:r>
            <a:r>
              <a:rPr b="1" dirty="0">
                <a:solidFill>
                  <a:srgbClr val="FFFFFF"/>
                </a:solidFill>
                <a:latin typeface="Aptos"/>
              </a:rPr>
              <a:t>uestion → to </a:t>
            </a:r>
            <a:r>
              <a:rPr lang="en-US" b="1" dirty="0">
                <a:solidFill>
                  <a:srgbClr val="FFFFFF"/>
                </a:solidFill>
                <a:latin typeface="Aptos"/>
              </a:rPr>
              <a:t>E</a:t>
            </a:r>
            <a:r>
              <a:rPr b="1" dirty="0">
                <a:solidFill>
                  <a:srgbClr val="FFFFFF"/>
                </a:solidFill>
                <a:latin typeface="Aptos"/>
              </a:rPr>
              <a:t>vidence → to a </a:t>
            </a:r>
            <a:r>
              <a:rPr lang="en-US" b="1" dirty="0">
                <a:solidFill>
                  <a:srgbClr val="FFFFFF"/>
                </a:solidFill>
                <a:latin typeface="Aptos"/>
              </a:rPr>
              <a:t>M</a:t>
            </a:r>
            <a:r>
              <a:rPr b="1" dirty="0">
                <a:solidFill>
                  <a:srgbClr val="FFFFFF"/>
                </a:solidFill>
                <a:latin typeface="Aptos"/>
              </a:rPr>
              <a:t>eaningful </a:t>
            </a:r>
            <a:r>
              <a:rPr lang="en-US" b="1" dirty="0">
                <a:solidFill>
                  <a:srgbClr val="FFFFFF"/>
                </a:solidFill>
                <a:latin typeface="Aptos"/>
              </a:rPr>
              <a:t>C</a:t>
            </a:r>
            <a:r>
              <a:rPr b="1" dirty="0">
                <a:solidFill>
                  <a:srgbClr val="FFFFFF"/>
                </a:solidFill>
                <a:latin typeface="Aptos"/>
              </a:rPr>
              <a:t>onclusion.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979EA5-6066-B112-E77F-9C87DAFFB31B}"/>
              </a:ext>
            </a:extLst>
          </p:cNvPr>
          <p:cNvSpPr txBox="1"/>
          <p:nvPr/>
        </p:nvSpPr>
        <p:spPr>
          <a:xfrm>
            <a:off x="594360" y="3401568"/>
            <a:ext cx="73152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4200" b="1" u="sng" dirty="0">
                <a:solidFill>
                  <a:srgbClr val="6FFFE9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BY KESHDANALYST</a:t>
            </a:r>
            <a:endParaRPr sz="5400" b="1" u="sng" dirty="0">
              <a:solidFill>
                <a:srgbClr val="6FFFE9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F4C51-CA3A-8219-1446-9DD6E7E1B051}"/>
              </a:ext>
            </a:extLst>
          </p:cNvPr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THE COMPLETE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Use this as the mental map for every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76479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2821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60020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67328" y="176479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72821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Aim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0020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76479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72821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Objectives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60020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53728" y="176479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172821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Questions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56032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272491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8833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Data Requirements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256032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67328" y="272491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68833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Collection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56032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272491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68833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Explore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56032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53728" y="272491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68833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Clean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52044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4128" y="36850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64845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Transform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352044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67328" y="36850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364845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Analyze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52044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10528" y="36850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64845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Visualize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52044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53728" y="368503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364845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Insights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448056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4128" y="464515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8760" y="460857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Recommendations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0" y="448056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767328" y="464515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60" y="460857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Conclusion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448056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10528" y="464515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460857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Report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4480560"/>
            <a:ext cx="2331720" cy="694944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53728" y="464515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B8A9"/>
                </a:solidFill>
                <a:latin typeface="Montserrat"/>
              </a:rP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60" y="460857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Document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59893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FFFE9"/>
                </a:solidFill>
                <a:latin typeface="Aptos"/>
              </a:rPr>
              <a:t>Think in sequence — but revisit earlier steps when new evidence changes your understanding.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B8A9"/>
                </a:solidFill>
                <a:latin typeface="Montserra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What problem, challenge, gap, or situation needs investigation?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9344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What problem, challenge, gap, or situation needs investigation?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DEFINE THE SITUATION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Describe what is happening or what needs attention.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DEFINE THE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State what is unknown, missing, inefficient, or unclear.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DEFINE THE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Explain why solving or understanding it matters.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Example: “Participation in the programme has fallen, but the reasons are unclear.”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A strong problem statement is specific enough to investigate — but broad enough to allow evidence to guide the answer.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B8A9"/>
                </a:solidFill>
                <a:latin typeface="Montserra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PROJECT 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What is the overall purpose of the project?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What is the overall purpose of the project?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ONE OVERALL 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State the main thing the project intends to achieve.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KEEP IT BROAD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The aim gives direction; it does not list every task.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MAKE IT ALIGNED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It should directly address the problem statement.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Example: “To investigate the factors associated with programme participation.”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Aim = the destination. Objectives = the work you will do to get there.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B8A9"/>
                </a:solidFill>
                <a:latin typeface="Montserra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What specifically will the project investigate or accomplish?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What specifically will the project investigate or accomplish?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3–6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Break the aim into manageable pieces.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MAKE THEM MEASURABLE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Use action verbs: analyse, compare, identify, assess, determine.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KEEP THEM RELEVANT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Every objective should help answer the problem.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Example: Analyse participation trends • Compare groups • Identify major patterns • Assess possible factors.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If an objective cannot be investigated with your available evidence, revise it before collecting data.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9848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500" b="1" dirty="0">
                <a:solidFill>
                  <a:srgbClr val="00B8A9"/>
                </a:solidFill>
                <a:latin typeface="Montserrat"/>
              </a:rPr>
              <a:t>0</a:t>
            </a:r>
            <a:r>
              <a:rPr sz="2500" b="1" dirty="0">
                <a:solidFill>
                  <a:srgbClr val="00B8A9"/>
                </a:solidFill>
                <a:latin typeface="Montserrat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KEY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What do we need the project to answer?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What do we need the project to answer?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TURN OBJECTIVES INTO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Each objective should produce one or more answerable 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BE SPECIFIC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Define who/what, when, where, and what measure matters.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PLAN THE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Know what result would count as a useful answer.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Objective: Compare participation by group → Question: “Which group has the highest participation rate?”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Question → evidence → analysis → answer. This chain keeps the project focused.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B8A9"/>
                </a:solidFill>
                <a:latin typeface="Montserrat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DATA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What information is needed to answer the questions?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What information is needed to answer the questions?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FIELDS /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List the columns or attributes required.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RECORDS / SAMPLE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Define who or what should be included.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TIME &amp;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Specify period, location, population, or boundaries.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Possible fields: Date • Category • Location • Participant type • Outcome • Score •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Do not collect data simply because it is available. Collect what helps answer the questions.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B8A9"/>
                </a:solidFill>
                <a:latin typeface="Montserrat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DATA COLLECTION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Where will the data come from?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Where will the data come from?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IDENTIFY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Databases, files, surveys, APIs, observations, public datasets, records, etc.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CHECK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Consider accuracy, completeness, relevance, and credibility.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RECORD PROVENANCE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Keep the source, date obtained, and important collection details.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A project can combine multiple sources — but the sources must be compatible and clearly documented.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Reliable conclusions begin with appropriate and trustworthy data.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786384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00B8A9"/>
                </a:solidFill>
                <a:latin typeface="Montserrat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DATA UNDERSTANDING / EXPLORATION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What does the dataset actually contain?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What does the dataset actually contain?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PROFILE THE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Rows, columns, data types, unique values, ranges.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CHECK DATA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Missing values, duplicates, unusual values, inconsistent categories.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LOOK FOR EARLY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Basic counts, distributions, trends, and relationships.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Before analysis, ask: “What is one row? What does each column mean? What does the dataset NOT contain?”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Never assume the dataset means what its column names suggest — inspect and understand it first.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6400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00B8A9"/>
                </a:solidFill>
                <a:latin typeface="Montserrat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DATA CLEANING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Can we trust the data enough to analyze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Can we trust the data enough to analyze 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MISSING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Investigate why values are missing; remove, replace, flag, or retain appropriately.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DUPLICATES &amp;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Detect repeated records and impossible or inconsistent entries.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STANDARDIZE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Fix formats, categories, dates, spelling, and data types.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Also investigate outliers and unusual records. Document important cleaning decisions.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Cleaning is not about making data look perfect — it is about making it suitable and defensible for analysis.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713232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00B8A9"/>
                </a:solidFill>
                <a:latin typeface="Montserrat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DATA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Can we make the data more useful for the questions?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Can we make the data more useful for the questions?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CREATE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Calculated fields, categories, indicators, ratios, or scores.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CREATE TIME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Month, quarter, year, duration, age, etc.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PREPARE FOR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Reshape, aggregate, merge, split, or derive fields when needed.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Raw: Date of Event → Month / Quarter / Year.  Raw: Score 0–100 → Performance Band.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Only transform data when the new structure or variable supports a clear analytical purpose.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B8A9"/>
                </a:solidFill>
                <a:latin typeface="Montserrat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What does the evidence tell us?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What does the evidence tell us?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DESCRIBE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Counts, totals, averages, minimums, maximums, distributions.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Groups, categories, periods, locations, or conditions.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INVESTIGATE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Trends, relationships, differences, patterns, and anomalies.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Useful techniques: filtering • sorting • grouping • aggregation • pivot tables • statistics • SQL • trend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Choose the method that best answers the question — not the method that is simply available.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B8A9"/>
                </a:solidFill>
                <a:latin typeface="Montserrat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DATA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How can we communicate the findings clearly?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How can we communicate the findings clearly?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MATCH VISUAL TO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Bar = comparison • Line = trend • KPI = key number • Scatter = relationship.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REDUCE CLUTTER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Use clear labels, useful scales, and meaningful titles.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HIGHLIGHT THE 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Make the important pattern easy to see.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Good title: “Participation increased steadily after the programme redesign.”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Do not create charts just because they look attractive. Every visual should communicate something useful.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B8A9"/>
                </a:solidFill>
                <a:latin typeface="Montserrat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INSIGHTS /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What did we discover — and what does it mean?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What did we discover — and what does it mean?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STATE THE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Describe the important pattern, difference, trend, or anomaly.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INTERPRET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Explain why the finding matters in the context of the project.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STAY EVIDENCE-BASED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Separate what the data shows from what you assume.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Data: Group A = 72%, Group B = 48% → Finding: Group A participation is substantially higher.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Move beyond “what happened?” to “what does this mean?”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B8A9"/>
                </a:solidFill>
                <a:latin typeface="Montserrat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RECOMMENDATIONS /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What should happen next based on the findings?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What should happen next based on the findings?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CONNECT TO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Each action should trace back to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BE SPECIFIC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State what should be done, by whom or where appropriate.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CONSIDER FEASIBILITY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Think about resources, risks, limitations, and context.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Insight: Participation is lowest during late sessions → Action: Review timing and test an earlier schedule.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Recommendations should be evidence-informed — not guesses presented as facts.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B8A9"/>
                </a:solidFill>
                <a:latin typeface="Montserrat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What is the overall answer from the project?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What is the overall answer from the project?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RETURN TO THE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Remind the audience what was investigated.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SUMMARIZE THE MAIN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Include only the most important results.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STATE THE OVERALL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Explain what the project ultimately revealed.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A strong conclusion connects: Problem → Evidence → Main finding → Overall takeaway.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Do not introduce major new evidence in the conclusion.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B8A9"/>
                </a:solidFill>
                <a:latin typeface="Montserrat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PRESENTATION /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How will we communicate the project clearly?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How will we communicate the project clearly?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TELL A LOGICAL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Problem → Objectives → Data → Cleaning → Analysis → Visuals → Insights → Actions → Conclusion.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FOCUS ON THE AUDIENCE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Show what they need to understand, not everything you calculated.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KEEP IT CONSISTENT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Use clear headings, visuals, definitions, and concise explanations.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Possible outputs: report • dashboard • presentation • research poster • notebook • written 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The final format may change, but the logic of the project should remain clear.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B8A9"/>
                </a:solidFill>
                <a:latin typeface="Montserrat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Can another person understand and reproduce the work?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4251960"/>
          </a:xfrm>
          <a:prstGeom prst="roundRect">
            <a:avLst/>
          </a:prstGeom>
          <a:solidFill>
            <a:srgbClr val="0E1C36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B8A9"/>
                </a:solidFill>
                <a:latin typeface="Montserrat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FFE9"/>
                </a:solidFill>
                <a:latin typeface="Montserrat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783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Can another person understand and reproduce the work?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737360" cy="347472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24044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B132B"/>
                </a:solidFill>
                <a:latin typeface="Montserrat"/>
              </a:rPr>
              <a:t>ASK → INVESTIGATE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0020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600200"/>
            <a:ext cx="50292" cy="10789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RECORD THE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6712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Dataset/source, access date, version, and relevant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92608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2926080"/>
            <a:ext cx="50292" cy="1078992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7288" y="309067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RECORD THE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9300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Cleaning, formulas, queries, transformations, assumptions, decisions.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251960"/>
            <a:ext cx="3794760" cy="1078992"/>
          </a:xfrm>
          <a:prstGeom prst="roundRect">
            <a:avLst/>
          </a:prstGeom>
          <a:solidFill>
            <a:srgbClr val="16213E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50292" cy="1078992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4416552"/>
            <a:ext cx="3410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A0DC"/>
                </a:solidFill>
                <a:latin typeface="Montserrat"/>
              </a:rPr>
              <a:t>RECORD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4818888"/>
            <a:ext cx="341071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E8EDF2"/>
                </a:solidFill>
                <a:latin typeface="Aptos"/>
              </a:rPr>
              <a:t>Missing information, scope, assumptions, uncertainty, and constraints.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00200"/>
            <a:ext cx="4160520" cy="2057400"/>
          </a:xfrm>
          <a:prstGeom prst="roundRect">
            <a:avLst/>
          </a:prstGeom>
          <a:solidFill>
            <a:srgbClr val="11293D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600200"/>
            <a:ext cx="50292" cy="2057400"/>
          </a:xfrm>
          <a:prstGeom prst="rect">
            <a:avLst/>
          </a:prstGeom>
          <a:solidFill>
            <a:srgbClr val="6FF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1764792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FFE9"/>
                </a:solidFill>
                <a:latin typeface="Montserrat"/>
              </a:rPr>
              <a:t>EXAMPLE /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167128"/>
            <a:ext cx="3776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DF2"/>
                </a:solidFill>
                <a:latin typeface="Aptos"/>
              </a:rPr>
              <a:t>Keep a simple project log: Source → Changes → Methods → Assumptions → Results → Limitations.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86200"/>
            <a:ext cx="4160520" cy="1965960"/>
          </a:xfrm>
          <a:prstGeom prst="roundRect">
            <a:avLst/>
          </a:prstGeom>
          <a:solidFill>
            <a:srgbClr val="0E1C36"/>
          </a:solidFill>
          <a:ln>
            <a:solidFill>
              <a:srgbClr val="2A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50292" cy="1965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2088" y="405079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B8A9"/>
                </a:solidFill>
                <a:latin typeface="Montserrat"/>
              </a:rPr>
              <a:t>ANALYST / PROJECT TIP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4453128"/>
            <a:ext cx="377647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F2"/>
                </a:solidFill>
                <a:latin typeface="Aptos"/>
              </a:rPr>
              <a:t>Good documentation makes your work easier to review, explain, reproduce, and improve.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B8A9"/>
                </a:solidFill>
                <a:latin typeface="Montserrat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2608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ontserrat"/>
              </a:rPr>
              <a:t>THE SIMPLE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32688"/>
            <a:ext cx="960120" cy="5029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42415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8C1CC"/>
                </a:solidFill>
                <a:latin typeface="Aptos"/>
              </a:rPr>
              <a:t>A compact framework students can remember and apply.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508760" cy="658368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5623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32B"/>
                </a:solidFill>
                <a:latin typeface="Montserrat"/>
              </a:rPr>
              <a:t>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020824"/>
            <a:ext cx="274320" cy="0"/>
          </a:xfrm>
          <a:prstGeom prst="line">
            <a:avLst/>
          </a:prstGeom>
          <a:ln w="1524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60320" y="1691640"/>
            <a:ext cx="1508760" cy="65836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185623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OBJECTIVES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79" y="2020824"/>
            <a:ext cx="274321" cy="0"/>
          </a:xfrm>
          <a:prstGeom prst="line">
            <a:avLst/>
          </a:prstGeom>
          <a:ln w="1524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34840" y="1691640"/>
            <a:ext cx="1508760" cy="65836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85623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QUESTIONS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2020824"/>
            <a:ext cx="274320" cy="0"/>
          </a:xfrm>
          <a:prstGeom prst="line">
            <a:avLst/>
          </a:prstGeom>
          <a:ln w="1524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59" y="1691640"/>
            <a:ext cx="1508760" cy="65836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59" y="185623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18119" y="2020824"/>
            <a:ext cx="274321" cy="0"/>
          </a:xfrm>
          <a:prstGeom prst="line">
            <a:avLst/>
          </a:prstGeom>
          <a:ln w="1524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83879" y="1691640"/>
            <a:ext cx="1508760" cy="65836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79" y="185623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CLEAN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92640" y="2020824"/>
            <a:ext cx="274319" cy="0"/>
          </a:xfrm>
          <a:prstGeom prst="line">
            <a:avLst/>
          </a:prstGeom>
          <a:ln w="1524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058400" y="1691640"/>
            <a:ext cx="1508760" cy="65836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0" y="185623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TRANSFORM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85800" y="2020824"/>
            <a:ext cx="10881360" cy="1289304"/>
          </a:xfrm>
          <a:prstGeom prst="line">
            <a:avLst/>
          </a:prstGeom>
          <a:ln w="1905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" y="3017520"/>
            <a:ext cx="1508760" cy="658368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318211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32B"/>
                </a:solidFill>
                <a:latin typeface="Montserrat"/>
              </a:rPr>
              <a:t>ANALYZE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194560" y="3346703"/>
            <a:ext cx="274320" cy="0"/>
          </a:xfrm>
          <a:prstGeom prst="line">
            <a:avLst/>
          </a:prstGeom>
          <a:ln w="1524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560320" y="3017520"/>
            <a:ext cx="1508760" cy="65836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60320" y="318211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VISUALIZE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69079" y="3346703"/>
            <a:ext cx="274321" cy="0"/>
          </a:xfrm>
          <a:prstGeom prst="line">
            <a:avLst/>
          </a:prstGeom>
          <a:ln w="1524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434840" y="3017520"/>
            <a:ext cx="1508760" cy="658368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318211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32B"/>
                </a:solidFill>
                <a:latin typeface="Montserrat"/>
              </a:rPr>
              <a:t>INSIGHTS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0" y="3346703"/>
            <a:ext cx="274320" cy="0"/>
          </a:xfrm>
          <a:prstGeom prst="line">
            <a:avLst/>
          </a:prstGeom>
          <a:ln w="1524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309359" y="3017520"/>
            <a:ext cx="1508760" cy="65836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59" y="318211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ACTION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18119" y="3346703"/>
            <a:ext cx="274321" cy="0"/>
          </a:xfrm>
          <a:prstGeom prst="line">
            <a:avLst/>
          </a:prstGeom>
          <a:ln w="15240">
            <a:solidFill>
              <a:srgbClr val="6FF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183879" y="3017520"/>
            <a:ext cx="1508760" cy="658368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83879" y="318211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32B"/>
                </a:solidFill>
                <a:latin typeface="Montserrat"/>
              </a:rPr>
              <a:t>CONCLUDE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251960"/>
            <a:ext cx="10287000" cy="1234440"/>
          </a:xfrm>
          <a:prstGeom prst="roundRect">
            <a:avLst/>
          </a:prstGeom>
          <a:solidFill>
            <a:srgbClr val="0E1C36"/>
          </a:solidFill>
          <a:ln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34440" y="44988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FFE9"/>
                </a:solidFill>
                <a:latin typeface="Montserrat"/>
              </a:rPr>
              <a:t>THE GOLDEN RULE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4425696"/>
            <a:ext cx="77266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ontserrat"/>
              </a:rPr>
              <a:t>Every analysis, visual, finding, and conclusion should connect back to the original project problem.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71500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B8C1CC"/>
                </a:solidFill>
                <a:latin typeface="Aptos"/>
              </a:rPr>
              <a:t>Start with a question. Use evidence. Explain what it means. Finish with a clear, defensible conclusion.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dirty="0">
                <a:solidFill>
                  <a:srgbClr val="B8C1CC"/>
                </a:solidFill>
                <a:latin typeface="Aptos"/>
              </a:rPr>
              <a:t>KESHDANALYST  •  DATA ANALYSIS PROJECT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2010</Words>
  <Application>Microsoft Office PowerPoint</Application>
  <PresentationFormat>Widescreen</PresentationFormat>
  <Paragraphs>348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Microsoft Himalaya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PROJECT ROADMAP BY KESHDANALYST</dc:title>
  <dc:subject/>
  <dc:creator>KeshDAnalyst</dc:creator>
  <cp:keywords/>
  <dc:description>generated using python-pptx</dc:description>
  <cp:lastModifiedBy>Michael Adediran</cp:lastModifiedBy>
  <cp:revision>2</cp:revision>
  <dcterms:created xsi:type="dcterms:W3CDTF">2013-01-27T09:14:16Z</dcterms:created>
  <dcterms:modified xsi:type="dcterms:W3CDTF">2026-08-16T20:21:07Z</dcterms:modified>
  <cp:category/>
</cp:coreProperties>
</file>